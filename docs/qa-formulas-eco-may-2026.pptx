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F2E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1F2E"/>
                </a:solidFill>
                <a:latin typeface="Calibri"/>
              </a:rPr>
              <a:t>Detección sobre 15 crisis reales (482 días)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Detectados</c:v>
                </c:pt>
              </c:strCache>
            </c:strRef>
          </c:tx>
          <c:spPr>
            <a:solidFill>
              <a:srgbClr val="2C9F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Antes</c:v>
                  </c:pt>
                  <c:pt idx="1">
                    <c:v>Después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Perdidos</c:v>
                </c:pt>
              </c:strCache>
            </c:strRef>
          </c:tx>
          <c:spPr>
            <a:solidFill>
              <a:srgbClr val="C24B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Antes</c:v>
                  </c:pt>
                  <c:pt idx="1">
                    <c:v>Después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</c:v>
                </c:pt>
                <c:pt idx="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Falsos positivos</c:v>
                </c:pt>
              </c:strCache>
            </c:strRef>
          </c:tx>
          <c:spPr>
            <a:solidFill>
              <a:srgbClr val="D89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Antes</c:v>
                  </c:pt>
                  <c:pt idx="1">
                    <c:v>Después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25</c:v>
                </c:pt>
                <c:pt idx="1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F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DB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C637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F2E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1F2E"/>
                </a:solidFill>
                <a:latin typeface="Calibri"/>
              </a:rPr>
              <a:t>Distribución de Engagement Velocity sobre 479 días con datos (escala log)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vs avg7d (vieja)</c:v>
                </c:pt>
              </c:strCache>
            </c:strRef>
          </c:tx>
          <c:spPr>
            <a:solidFill>
              <a:srgbClr val="C24B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min</c:v>
                  </c:pt>
                  <c:pt idx="1">
                    <c:v>p1</c:v>
                  </c:pt>
                  <c:pt idx="2">
                    <c:v>media</c:v>
                  </c:pt>
                  <c:pt idx="3">
                    <c:v>std</c:v>
                  </c:pt>
                  <c:pt idx="4">
                    <c:v>p99</c:v>
                  </c:pt>
                  <c:pt idx="5">
                    <c:v>max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-100</c:v>
                </c:pt>
                <c:pt idx="1">
                  <c:v>-100</c:v>
                </c:pt>
                <c:pt idx="2">
                  <c:v>56.83</c:v>
                </c:pt>
                <c:pt idx="3">
                  <c:v>482.9</c:v>
                </c:pt>
                <c:pt idx="4">
                  <c:v>2010.9</c:v>
                </c:pt>
                <c:pt idx="5">
                  <c:v>8087.9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z-score 30d (nueva)</c:v>
                </c:pt>
              </c:strCache>
            </c:strRef>
          </c:tx>
          <c:spPr>
            <a:solidFill>
              <a:srgbClr val="2C9F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min</c:v>
                  </c:pt>
                  <c:pt idx="1">
                    <c:v>p1</c:v>
                  </c:pt>
                  <c:pt idx="2">
                    <c:v>media</c:v>
                  </c:pt>
                  <c:pt idx="3">
                    <c:v>std</c:v>
                  </c:pt>
                  <c:pt idx="4">
                    <c:v>p99</c:v>
                  </c:pt>
                  <c:pt idx="5">
                    <c:v>max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-1.4</c:v>
                </c:pt>
                <c:pt idx="1">
                  <c:v>-1.06</c:v>
                </c:pt>
                <c:pt idx="2">
                  <c:v>0.09</c:v>
                </c:pt>
                <c:pt idx="3">
                  <c:v>1.99</c:v>
                </c:pt>
                <c:pt idx="4">
                  <c:v>6.26</c:v>
                </c:pt>
                <c:pt idx="5">
                  <c:v>33.96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F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6350" cap="flat">
              <a:solidFill>
                <a:srgbClr val="D7DB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F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MÉTRICAS ECO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Auditoría de fórmulas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calidad de datos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Desarrollo Económico y Comercio · Puerto Rico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6576" cy="1737360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5943600"/>
            <a:ext cx="10881360" cy="0"/>
          </a:xfrm>
          <a:prstGeom prst="line">
            <a:avLst/>
          </a:prstGeom>
          <a:noFill/>
          <a:ln w="9525">
            <a:solidFill>
              <a:srgbClr val="3A42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080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482 días backtest · 4 fórmulas reescritas · 1 métrica nueva · 966 snapshots regenerados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 · Equipo Populicom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cambió y por qué importa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decisiones de fórmula tomadas con datos reales — no con intuición ni con el pedido del cliente.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34924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51760"/>
            <a:ext cx="73152" cy="1874520"/>
          </a:xfrm>
          <a:prstGeom prst="rect">
            <a:avLst/>
          </a:prstGeom>
          <a:solidFill>
            <a:srgbClr val="3D6A9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34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Health Index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0.11 → 0.25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rNSS  +0.20 → +0.53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bug premiaba el ataque: más menciones negativas → más reach → BHI más alto. Ahora reach lleva el signo del NSS del día.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651760"/>
            <a:ext cx="534924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2651760"/>
            <a:ext cx="73152" cy="1874520"/>
          </a:xfrm>
          <a:prstGeom prst="rect">
            <a:avLst/>
          </a:prstGeom>
          <a:solidFill>
            <a:srgbClr val="C24B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834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Crisis Risk Score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2461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0.37 → 0.79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36118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 0.60 → 1.00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39319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vieja perdía 6 de 15 crisis reales. Reemplazada por gate condicional + suma ponderada saturada en [0,1].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534924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754880"/>
            <a:ext cx="73152" cy="1874520"/>
          </a:xfrm>
          <a:prstGeom prst="rect">
            <a:avLst/>
          </a:prstGeom>
          <a:solidFill>
            <a:srgbClr val="D89E4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9377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Velocity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5349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9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 8087% → 34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57150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 482.9 → 1.99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0350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% vs. avg7d a z-score 30d. Picos absurdos por outliers desaparecen, umbrales comparables entre agencias.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4754880"/>
            <a:ext cx="534924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4754880"/>
            <a:ext cx="73152" cy="1874520"/>
          </a:xfrm>
          <a:prstGeom prst="rect">
            <a:avLst/>
          </a:prstGeom>
          <a:solidFill>
            <a:srgbClr val="2C9F7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9377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Polarization Index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0" y="5349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nueva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00800" y="57150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(pos+neg) / total · 100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60350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 polarización de apatía cuando NSS≈0. 14-abril 70% (crisis) vs 13-enero 87% (entusiasmo positivo).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Backtest: 482 días reales contra ground truth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fórmula propuesta se evalúa contra eventos efectivamente ocurridos. No optimizamos para sentirnos bien, optimizamos para detectar.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482 snapshots diarios · DDECPR · 2025-01-01 → 2026-05-06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74,500+ menciones procesadas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query IDs de BrandWatch · 4 fuentes principales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día de crisis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 ≥ 30  OR  (neg_share ≥ 0.40  AND  total ≥ 20)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0749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días de crisis identificados (3.1% del total). Misma definición usada por la presentación original del cliente.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651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evaluación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301752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balance entre precisión y recall (0–1, mayor = mejor)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fracción de crisis reales que la fórmula detectó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rNSS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correlación de la métrica con el NSS del día (señal
          de coherencia: si NSS baja, el indicador debe mover)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para Engagement Velocity, evaluamos rango 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estabilidad de la escala vs outliers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11064240" cy="0"/>
          </a:xfrm>
          <a:prstGeom prst="line">
            <a:avLst/>
          </a:prstGeom>
          <a:noFill/>
          <a:ln w="12700">
            <a:solidFill>
              <a:srgbClr val="C9A5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 cambiamos las fórmulas a lo que el cliente dijo, sino a la que mejor funciona.”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Decisión de producto, mayo 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D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#1 · BRAND HEALTH INDEX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 que premiaba el ataque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componente de alcance crecía con cualquier mención — incluyendo las negativas. Fix: signo del NSS del día × log(reach).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4406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97480"/>
            <a:ext cx="5440680" cy="365760"/>
          </a:xfrm>
          <a:prstGeom prst="rect">
            <a:avLst/>
          </a:prstGeom>
          <a:solidFill>
            <a:srgbClr val="F0E5E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Reach_norm = ((reach_7d − reach_prev_7d) / reach_prev_7d + 1) /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749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BHI = 0.40·NSS + 0.25·Eng + 0.20·Reach + 0.15·Pert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206240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crece igual con menciones positivas o negativas. Un día de crisis con mucho volumen produce reach alto → reach_norm alto → BHI alto. El backtest mostró BHI = 0.71 el día de la crisis del Proyecto 1183.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697480"/>
            <a:ext cx="54406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697480"/>
            <a:ext cx="5440680" cy="365760"/>
          </a:xfrm>
          <a:prstGeom prst="rect">
            <a:avLst/>
          </a:prstGeom>
          <a:solidFill>
            <a:srgbClr val="DEEAE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32004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Reach_norm = (sign(NSS_hoy) · log10(reach_30d) / 7 + 1) /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3749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BHI = 0.40·NSS + 0.25·Eng + 0.20·Reach + 0.15·Pert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4206240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normalizado lleva el signo del NSS del día. NSS&lt;−20 penaliza; NSS&gt;0 premia; neutro no aporta dirección. Crítico usar NSS hoy (no nss_30d): la 30d-avg no reacciona a una crisis del mismo día.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217920"/>
            <a:ext cx="11064240" cy="64008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6355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14-abril-2026 · crisis Proyecto 1183 · </a:t>
            </a:r>
            <a:pPr indent="0" marL="0">
              <a:buNone/>
            </a:pPr>
            <a:r>
              <a:rPr lang="en-US" sz="1300" b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BHI antes 0.71  →  BHI después 0.51</a:t>
            </a:r>
            <a:pPr indent="0" marL="0">
              <a:buNone/>
            </a:pPr>
            <a:r>
              <a:rPr lang="en-US" sz="1300" dirty="0">
                <a:solidFill>
                  <a:srgbClr val="B5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el dashboard finalmente refleja la realidad del día.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#2 · CRISIS RISK SCORE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detector que dejaba pasar 6 de 15 crisis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multiplicativa diluía la señal. Reemplazada por suma ponderada con gate condicional.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651760"/>
          <a:ext cx="5943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858000" y="2651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052560" y="3063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87552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241280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C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(sensibilidad)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052560" y="3520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87552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241280" y="3520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C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5800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052560" y="3977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87552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241280" y="3977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C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58000" y="4434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negativos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052560" y="44348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87552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241280" y="4434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C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15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858000" y="5120640"/>
            <a:ext cx="47548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40880" y="52120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final
</a:t>
            </a:r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gate: neg_share&gt;0.30 ∧ total≥20  OR  neg≥30
</a:t>
            </a:r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(0.5·sev + 0.3·vel + 0.2·rel) · conf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89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#3 · ENGAGEMENT VELOCITY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métrica que pegaba 8087%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vieja amplificaba outliers a niveles ininterpretables. Z-score acota la escala.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651760"/>
          <a:ext cx="11064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6263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importa: </a:t>
            </a:r>
            <a:pPr indent="0" marL="0">
              <a:buNone/>
            </a:pPr>
            <a:r>
              <a:rPr lang="en-US" sz="1300" dirty="0">
                <a:solidFill>
                  <a:srgbClr val="B5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umbrales de alerta se vuelven comparables entre agencias y entre semanas. Un z = +2 significa lo mismo siempre.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NUEVA · POLARIZATION INDEX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Distinguir polarización de apatía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NSS ≈ 0, ¿estamos hablando de un día calmado o de un día dividido? El NSS solo no responde.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743200"/>
            <a:ext cx="3657600" cy="73152"/>
          </a:xfrm>
          <a:prstGeom prst="rect">
            <a:avLst/>
          </a:prstGeom>
          <a:solidFill>
            <a:srgbClr val="2C9F7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de enero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súper positivo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931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+77.8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3172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Polarización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31720" y="3931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9F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77240" y="4617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todo el mundo opina (poca neutral) y casi todo el mundo opina bien. Polarización alta NO es crisis — es entusiasmo unidireccional.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51960" y="274320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51960" y="2743200"/>
            <a:ext cx="3657600" cy="73152"/>
          </a:xfrm>
          <a:prstGeom prst="rect">
            <a:avLst/>
          </a:prstGeom>
          <a:solidFill>
            <a:srgbClr val="5C6378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de abril 2026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tranquilo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3657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3931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−9.7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03504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Polarización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3931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6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480560" y="4617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NSS levemente negativo, pero más de la mitad de las menciones son neutrales/informativas. Conversación apática, sin polarización real.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55280" y="274320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2743200"/>
            <a:ext cx="3657600" cy="73152"/>
          </a:xfrm>
          <a:prstGeom prst="rect">
            <a:avLst/>
          </a:prstGeom>
          <a:solidFill>
            <a:srgbClr val="C24B5C"/>
          </a:solidFill>
          <a:ln/>
        </p:spPr>
      </p:sp>
      <p:sp>
        <p:nvSpPr>
          <p:cNvPr id="25" name="Text 23"/>
          <p:cNvSpPr/>
          <p:nvPr/>
        </p:nvSpPr>
        <p:spPr>
          <a:xfrm>
            <a:off x="818388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de abril 2026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8388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Proyecto 1183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83880" y="3657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83880" y="3931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−57.6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73836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Polarización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738360" y="3931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183880" y="4617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de las menciones son opinión clara — y la mayoría es negativa. Polarización alta + NSS bajo = crisis emergente. Detectado un día antes que el pico.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6080760"/>
            <a:ext cx="11064240" cy="0"/>
          </a:xfrm>
          <a:prstGeom prst="line">
            <a:avLst/>
          </a:prstGeom>
          <a:noFill/>
          <a:ln w="6350">
            <a:solidFill>
              <a:srgbClr val="C9A5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Index = </a:t>
            </a:r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(positivos + negativos) / total · 100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 · 14 DE ABRIL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Crisis Proyecto 1183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 menciones · 203 negativas (64%) · Reach 8.6 M · Hilo viral comenzando 14 abr 9:00 AM AST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777240"/>
          </a:xfrm>
          <a:prstGeom prst="rect">
            <a:avLst/>
          </a:prstGeom>
          <a:solidFill>
            <a:srgbClr val="23283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23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Health Index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2423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B92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77840" y="24231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2423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9A5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89520" y="24231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5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dashboard mostraba salud aceptable durante una crisis activa.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Risk Score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32004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B92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17.45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320040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32004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9A5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89520" y="32004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5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Vieja sin tope; nueva en escala 0–1 con todos los componentes en máximo.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1064240" cy="777240"/>
          </a:xfrm>
          <a:prstGeom prst="rect">
            <a:avLst/>
          </a:prstGeom>
          <a:solidFill>
            <a:srgbClr val="23283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977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Velocity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39776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B92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−83.93%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397764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39776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9A5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−0.24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89520" y="3977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5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Pasó de % difícil de leer a z-score (−0.24 ≈ ligeramente bajo, esperable en crisis).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754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Index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0" y="47548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B92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77840" y="47548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0" y="47548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9A5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89520" y="47548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5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nueva; detectó polarización aguda 24h antes del pico.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0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0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89520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Subcomponentes guardados para drilldown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puntuación de crisis es reconstruible elemento a elemento. Si el cliente pregunta “¿por qué 0.94?”, hay respuesta concreta.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14-abril-2026 · Crisis Risk = 0.94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compone esa puntuación, fila a fila en daily_metric_snapshots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611880"/>
            <a:ext cx="10068458" cy="594360"/>
          </a:xfrm>
          <a:prstGeom prst="rect">
            <a:avLst/>
          </a:prstGeom>
          <a:solidFill>
            <a:srgbClr val="FAF1E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3657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5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91840" y="3657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0.5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365760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neg_share = 203/318 = 0.638 → min(0.638/0.7, 1.0)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297680"/>
            <a:ext cx="11064240" cy="594360"/>
          </a:xfrm>
          <a:prstGeom prst="rect">
            <a:avLst/>
          </a:prstGeom>
          <a:solidFill>
            <a:srgbClr val="FAF1E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343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94560" y="4343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5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91840" y="4343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0.3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434340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vol_z = 6.4 → max(0, min(6.4/3, 1.0)) — saturado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983480"/>
            <a:ext cx="10068458" cy="594360"/>
          </a:xfrm>
          <a:prstGeom prst="rect">
            <a:avLst/>
          </a:prstGeom>
          <a:solidFill>
            <a:srgbClr val="FAF1E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029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94560" y="5029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5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91840" y="5029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0.2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502920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high_pertinence_share = 0.453 → min(0.453/0.5, 1.0)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669280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669280"/>
            <a:ext cx="11064240" cy="594360"/>
          </a:xfrm>
          <a:prstGeom prst="rect">
            <a:avLst/>
          </a:prstGeom>
          <a:solidFill>
            <a:srgbClr val="FAF1E0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715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194560" y="57150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5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291840" y="57150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confianza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571500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log10(318)/2 = 1.25 → min(1.25, 1.0) — saturado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(0.91·0.5 + 1.00·0.3 + 0.91·0.2) · 1.00  =  0.937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 · RENDERING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 de LinkedIn renderizaba en blanco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BrandWatch entrega LinkedIn/Tumblr/Instagram con title vacío. El contenido real vive en snippet.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5204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743200"/>
            <a:ext cx="73152" cy="1645920"/>
          </a:xfrm>
          <a:prstGeom prst="rect">
            <a:avLst/>
          </a:prstGeom>
          <a:solidFill>
            <a:srgbClr val="3D6A9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9718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3D6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919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LinkedIn DDECPR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2743200"/>
            <a:ext cx="35204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2743200"/>
            <a:ext cx="73152" cy="1645920"/>
          </a:xfrm>
          <a:prstGeom prst="rect">
            <a:avLst/>
          </a:prstGeom>
          <a:solidFill>
            <a:srgbClr val="C24B5C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9718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24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865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4526280" y="3840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title vacío (94%)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2743200"/>
            <a:ext cx="35204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2743200"/>
            <a:ext cx="73152" cy="1645920"/>
          </a:xfrm>
          <a:prstGeom prst="rect">
            <a:avLst/>
          </a:prstGeom>
          <a:solidFill>
            <a:srgbClr val="2C9F7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29718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C9F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861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8229600" y="3840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Recuperables vía snippet (94%)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11064240" cy="1280160"/>
          </a:xfrm>
          <a:prstGeom prst="rect">
            <a:avLst/>
          </a:prstGeom>
          <a:solidFill>
            <a:srgbClr val="F1F3F7"/>
          </a:solidFill>
          <a:ln w="6350">
            <a:solidFill>
              <a:srgbClr val="D7DB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937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· API /eco-data y /eco-mentions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5257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= (m.title &amp;&amp; m.title.trim()) || (m.snippet &amp;&amp; m.snippet.trim()) || ''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56692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búsqueda full-text ya cubre ambos campos. La UI ahora muestra el contenido del post en lugar de la fila en blanco.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queda hecho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lo que sigue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6576" cy="3108960"/>
          </a:xfrm>
          <a:prstGeom prst="rect">
            <a:avLst/>
          </a:prstGeom>
          <a:solidFill>
            <a:srgbClr val="2C9F7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889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4983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fórmulas reescritas con backtest de 482 días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métrica nueva (Polarization Index) en hero del dashboard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966 snapshots regenerados, agrupados por publicación AST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Drilldown por subcomponente para auditoría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LinkedIn / Tumblr / Instagram con fallback de snippet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fuente de verdad — eliminado live-fallback del frontend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2743200"/>
            <a:ext cx="36576" cy="3108960"/>
          </a:xfrm>
          <a:prstGeom prst="rect">
            <a:avLst/>
          </a:prstGeom>
          <a:solidFill>
            <a:srgbClr val="C9A55C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27889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OLA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37960" y="3108960"/>
            <a:ext cx="4983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5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de paridad muestreada contra BrandWatch API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5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content gap: escalación con CSM de BrandWatch (token de paquete X)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5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 basadas en Crisis ≥ 0.40 y Polarization ≥ 60% con NSS &lt; 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5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semanales de DDECPR ya integran las nuevas métricas (cron horario, TZ Puerto Rico)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6035040"/>
            <a:ext cx="11064240" cy="0"/>
          </a:xfrm>
          <a:prstGeom prst="line">
            <a:avLst/>
          </a:prstGeom>
          <a:noFill/>
          <a:ln w="9525">
            <a:solidFill>
              <a:srgbClr val="3A42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Populicom · Mayo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Métricas ECO — Auditoría DDECPR (Mayo 2026)</dc:title>
  <dc:subject>PptxGenJS Presentation</dc:subject>
  <dc:creator>Equipo Populicom · QA ECO</dc:creator>
  <cp:lastModifiedBy>Equipo Populicom · QA ECO</cp:lastModifiedBy>
  <cp:revision>1</cp:revision>
  <dcterms:created xsi:type="dcterms:W3CDTF">2026-05-07T21:28:23Z</dcterms:created>
  <dcterms:modified xsi:type="dcterms:W3CDTF">2026-05-07T21:28:23Z</dcterms:modified>
</cp:coreProperties>
</file>